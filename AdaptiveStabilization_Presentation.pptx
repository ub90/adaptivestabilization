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BFA262-4FA4-40E5-933B-1E84F52AF7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ADADE6-B640-467B-881D-F1EBA8DCF7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BC8835-CD39-477A-80B2-3880E8A22C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8CD306-D744-453D-A778-AB6E8BE8BB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B6A337-753B-429C-9224-D8207DB399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44940D-1B9C-4791-9160-A26B8407C3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74F7E0-448E-4A12-B0FC-0D2DF2B47C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6BCFE2-F9E6-47A0-A075-1FD5379EA3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08B8B5-504C-4197-BB14-E8C417F45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993E05-D74B-4F0E-988D-832D8E3C9A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8211E0-2B2A-4C98-A07E-53D7107A1C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1371600" y="13716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Adaptive Stabilization Techniques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 Ill-Conditioned Linear Regression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30175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Final Project Progress Report  •  AIMA 203 – Numerical Methods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3931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Utsab Baral  •  Aman Sapkota  •  Kushagra Poudel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45720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Kathmandu University, Nepal  |  May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Research Question &amp; Motivation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400" y="10058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86bf6"/>
                </a:solidFill>
                <a:effectLst/>
                <a:uFillTx/>
                <a:latin typeface="Calibri"/>
              </a:rPr>
              <a:t>"Does minimizing training loss guarantee recovering the true model parameters under ill-conditioning?"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914400" y="1828800"/>
            <a:ext cx="50288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Real-world datasets contain redundant / collinear 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This creates an ill-conditioned data matrix 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Condition number κ = λ_max / λ_min of the Hessian H = XᵀX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High κ → steep ravines in some directions, infinitely flat valleys in others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Same learning rate must serve both — an inherent conflict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Central Thesis: Modern optimizers can achieve near-perfect loss (~10⁻⁶)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while parameters diverge catastrophically — the "Optimization Mirage"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6400800" y="2011680"/>
            <a:ext cx="50288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The Condition Number κ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κ = 10      →  Nearly circular loss bowl (easy)</a:t>
            </a: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κ = 10⁴    →  Elongated valley (tricky)</a:t>
            </a: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κ = 10⁷    →  Ultra-flat ravine (catastrophic)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At κ = 10⁷, moving thousands of units</a:t>
            </a: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along the flat direction changes the loss</a:t>
            </a:r>
            <a:br>
              <a:rPr sz="1400"/>
            </a:b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by less than floating-point precision.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914400" y="360"/>
            <a:ext cx="102870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Code Architecture &amp;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Table 3"/>
          <p:cNvGraphicFramePr/>
          <p:nvPr/>
        </p:nvGraphicFramePr>
        <p:xfrm>
          <a:off x="731520" y="1097280"/>
          <a:ext cx="5943240" cy="320004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3566160"/>
              </a:tblGrid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File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Lines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Purpose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config.py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82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All hyperparameters, dataset specs, LR formulas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data_generator.py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78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SVD-based synthetic data with exact κ control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models.py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LinearModel and LinearWithBatchNorm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optimizers.py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157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 training loops with metric tracking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train.py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126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Main orchestrator: data → train → save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plot_results.py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148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 core publication-quality plots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3999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plot_advanced.py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245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Multi-level drill-down plots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74" name="TextBox 4"/>
          <p:cNvSpPr/>
          <p:nvPr/>
        </p:nvSpPr>
        <p:spPr>
          <a:xfrm>
            <a:off x="7132320" y="1097280"/>
            <a:ext cx="45716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Pipeline Flow: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config.py  →  data_generator.py  →  train.py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train.py  →  results/results.pkl (77.6 MB)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results.pkl  →  plot_results.py  →  plots/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Total: 90 training runs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(3 datasets × 6 methods × 5 seeds)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Key Design: Linear Regression chosen to isolate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optimizer dynamics from neural-net complexity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(no local minima, constant Hessian, quadratic loss).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Experimental Design — Datasets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731520" y="1097280"/>
          <a:ext cx="1051524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97280"/>
                <a:gridCol w="64922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κ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Epochs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Description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Well-Conditioned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1,005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Isotropic loss bowl – all methods should converge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Moderate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6,000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Elongated valley – methods begin to diverge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Severe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50,000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Ultra-flat valley – tests numerical limits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78" name="TextBox 4"/>
          <p:cNvSpPr/>
          <p:nvPr/>
        </p:nvSpPr>
        <p:spPr>
          <a:xfrm>
            <a:off x="731520" y="320040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Data Generation (SVD-Constructed):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X = U Σ Vᵀ with exact κ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n = 1,000 train, 200 test samples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d = 50 features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σ log-spaced from σ_max=1.0 to σ_min = σ_max/√κ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Noise: ε ~ N(0, 10⁻³)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Precision: float64 (avoids float32 breakdown)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6400800" y="320040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Metrics Tracked Per Epoch: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Train Loss — ½‖Xθ − y‖²/n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Test Loss — same on held-out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Parameter Error — ‖θ − θ*‖₂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Gradient Norm — ‖∇L‖₂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Eigen-Direction Errors (top &amp; bottom eigenvectors)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Wall clock time, CPU %, RAM MB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Divergence detection (NaN/Inf)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Experimental Design — 6 Optimization Methods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731520" y="1005840"/>
          <a:ext cx="1051524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1371600"/>
                <a:gridCol w="4572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Key Mechanism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Learning Rate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Special Parameters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Raw gradient descent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1800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Velocity accumulation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1900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β* = ((√κ−1)/(√κ+1))²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Per-coord adaptive scaling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β₁=0.9, β₂=0.999, ε=10⁻⁸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SGD + L2 penalty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1800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λ from κ (reduce eff. conditioning)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BatchNorm before 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0.1 (Adam)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affine=False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 + decoupled decay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weight_decay = Ridge λ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83" name="TextBox 4"/>
          <p:cNvSpPr/>
          <p:nvPr/>
        </p:nvSpPr>
        <p:spPr>
          <a:xfrm>
            <a:off x="731520" y="457200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Statistical Design:  5 random initialization seeds per method-dataset pair  →  90 total training runs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Results include mean ± std bands across seeds  •  Bias² and Variance computed from final θ across seeds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Result 1 — Numerical Stability Baselines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3"/>
          <p:cNvGraphicFramePr/>
          <p:nvPr/>
        </p:nvGraphicFramePr>
        <p:xfrm>
          <a:off x="548640" y="1005840"/>
          <a:ext cx="502884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1371600"/>
                <a:gridCol w="14630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κ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Naive Solve Error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Stable (Pseudoinverse)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Well-Conditioned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1.273 × 10⁻²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1.273 × 10⁻²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Moderate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2.793 × 10⁻¹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2.793 × 10⁻¹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Severe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pic>
        <p:nvPicPr>
          <p:cNvPr id="87" name="Picture 4" descr="2_numerical_stability.png"/>
          <p:cNvPicPr/>
          <p:nvPr/>
        </p:nvPicPr>
        <p:blipFill>
          <a:blip r:embed="rId1"/>
          <a:stretch/>
        </p:blipFill>
        <p:spPr>
          <a:xfrm>
            <a:off x="5943600" y="914400"/>
            <a:ext cx="566892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5"/>
          <p:cNvSpPr/>
          <p:nvPr/>
        </p:nvSpPr>
        <p:spPr>
          <a:xfrm>
            <a:off x="548640" y="3200400"/>
            <a:ext cx="50288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Key Insight: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Both solvers produce identical errors (float64 precision)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Error growth is NOT numerical breakdown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It is inherent noise amplification: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  ‖δθ‖/‖θ‖ ≈ κ × ‖δb‖/‖b‖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noise_std=10⁻³ × κ=10⁷ → relative error ≈ O(1–10)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• Confirms the theoretical perturbation bound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Result 2 — Global Convergence Trajectories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3" descr="1_convergence.png"/>
          <p:cNvPicPr/>
          <p:nvPr/>
        </p:nvPicPr>
        <p:blipFill>
          <a:blip r:embed="rId1"/>
          <a:stretch/>
        </p:blipFill>
        <p:spPr>
          <a:xfrm>
            <a:off x="457200" y="914400"/>
            <a:ext cx="1124676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914400" y="365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c2626"/>
                </a:solidFill>
                <a:effectLst/>
                <a:uFillTx/>
                <a:latin typeface="Calibri"/>
              </a:rPr>
              <a:t>⚠️  THE OPTIMIZATION MIRAGE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1097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Perfect loss does NOT mean correct parameters.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Table 3"/>
          <p:cNvGraphicFramePr/>
          <p:nvPr/>
        </p:nvGraphicFramePr>
        <p:xfrm>
          <a:off x="914400" y="2011680"/>
          <a:ext cx="1033236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200400"/>
                <a:gridCol w="28346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Train Loss (κ=10⁷)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Error (κ=10⁷)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Verdict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4.93 × 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0.701 (still falling)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✅ Robust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4.89 × 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❌ Catastrophic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4.97 × 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❌ Catastrophic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5.06 × 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5.621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❌ Catastrophic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2.58 × 10⁻⁵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0.991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⚠️ Broken by design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 (DIVERGED)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💥 LR bug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5" name="TextBox 4"/>
          <p:cNvSpPr/>
          <p:nvPr/>
        </p:nvSpPr>
        <p:spPr>
          <a:xfrm>
            <a:off x="914400" y="548640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At κ=10⁷, Adam/Momentum/AdamW losses drop to ~5×10⁻⁷ (near-perfect!) but parameters are 5.76× further from θ* than random initialization.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Per-Dataset Results — κ = 10  (Well-Conditioned)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3"/>
          <p:cNvGraphicFramePr/>
          <p:nvPr/>
        </p:nvGraphicFramePr>
        <p:xfrm>
          <a:off x="457200" y="1097280"/>
          <a:ext cx="941796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188720"/>
                <a:gridCol w="9144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Train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Error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Diverged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4.507×10⁻⁷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5.019×10⁻⁷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0.01273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0.6s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4.507×10⁻⁷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5.019×10⁻⁷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0.01273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4.507×10⁻⁷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5.019×10⁻⁷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0.01273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0.4s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4.524×10⁻⁷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4.943×10⁻⁷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0.01393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4.933×10⁻⁷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5.562×10⁻⁷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0.979 ⚠️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0.5s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4.507×10⁻⁷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5.019×10⁻⁷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0.01273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0.3s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9" name="TextBox 4"/>
          <p:cNvSpPr/>
          <p:nvPr/>
        </p:nvSpPr>
        <p:spPr>
          <a:xfrm>
            <a:off x="457200" y="4572000"/>
            <a:ext cx="11246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Insight:  All methods converge to noise-floor loss (~10⁻⁷).  Param error ≈ 0.013 for all EXCEPT BN-on-Linear (stuck at 0.979).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BatchNorm's first failure signal — even in the easiest scenario, it cannot recover parameter magnitude due to scale invariance.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Per-Dataset Results — κ = 10⁴  (Moderate)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Table 3"/>
          <p:cNvGraphicFramePr/>
          <p:nvPr/>
        </p:nvGraphicFramePr>
        <p:xfrm>
          <a:off x="457200" y="1097280"/>
          <a:ext cx="969228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103120"/>
                <a:gridCol w="1188720"/>
                <a:gridCol w="9144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Train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Error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Diverged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4.881×10⁻⁷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6.673×10⁻⁷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0.217 ± 0.016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1.3s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4.875×10⁻⁷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6.810×10⁻⁷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0.279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1.3s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5.014×10⁻⁷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7.594×10⁻⁷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1.8s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 (DIVERGED)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5/5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8.406×10⁻⁵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4.179×10⁻⁴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0.991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2.9s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5.155×10⁻⁷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8.441×10⁻⁷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1.8s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4"/>
          <p:cNvSpPr/>
          <p:nvPr/>
        </p:nvSpPr>
        <p:spPr>
          <a:xfrm>
            <a:off x="457200" y="4572000"/>
            <a:ext cx="11246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The Mirage Begins:  Losses are all ~10⁻⁷ (excellent!) but param errors stabilize around 0.28 (28% error).  Perfect loss ≠ correct parameters.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Ridge L2 diverges (all 5 seeds) — LR=1800 + large λ penalty overshoots stability bound η &lt; 2/L_eff.  This is a hyperparameter bug.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Per-Dataset Results — κ = 10⁷  (Severe)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Table 3"/>
          <p:cNvGraphicFramePr/>
          <p:nvPr/>
        </p:nvGraphicFramePr>
        <p:xfrm>
          <a:off x="457200" y="1097280"/>
          <a:ext cx="969228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103120"/>
                <a:gridCol w="1188720"/>
                <a:gridCol w="9144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Train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Error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Diverged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4.930×10⁻⁷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5.657×10⁻⁷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0.701 ± 0.059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10.7s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4.886×10⁻⁷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5.751×10⁻⁷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10.8s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4.965×10⁻⁷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6.123×10⁻⁷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5.764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14.9s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 (DIVERGED)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∞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5/5 💥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0.3s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2.578×10⁻⁵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1.256×10⁻⁴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0.991 ⚠️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24.1s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5.061×10⁻⁷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6.416×10⁻⁷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5.621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0/5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15.1s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4"/>
          <p:cNvSpPr/>
          <p:nvPr/>
        </p:nvSpPr>
        <p:spPr>
          <a:xfrm>
            <a:off x="457200" y="4572000"/>
            <a:ext cx="11246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Catastrophic Parameter Explosion:  Adam, Momentum, AdamW all achieve train loss ~5×10⁻⁷ while param error explodes to 5.76 — further from θ* than random init.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Vanilla SGD is the most robust unregularized method — param error 0.701 and still falling at epoch 50,000.  Its raw gradient steps naturally ignore flat directions.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Result 3 — Bias-Variance Decomposition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3" descr="3_bias_variance.png"/>
          <p:cNvPicPr/>
          <p:nvPr/>
        </p:nvPicPr>
        <p:blipFill>
          <a:blip r:embed="rId1"/>
          <a:stretch/>
        </p:blipFill>
        <p:spPr>
          <a:xfrm>
            <a:off x="457200" y="914400"/>
            <a:ext cx="5943240" cy="41144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1" name="Table 4"/>
          <p:cNvGraphicFramePr/>
          <p:nvPr/>
        </p:nvGraphicFramePr>
        <p:xfrm>
          <a:off x="6675120" y="914400"/>
          <a:ext cx="50288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Dataset / 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Bias²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Variance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  All standard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~1.6×10⁻⁴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~10⁻³² (negligible)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  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0.959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4.3×10⁻³⁵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κ=10⁴  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0.046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2.1×10⁻³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κ=10⁴  Adam/Mom/AdamW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~0.078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~10⁻⁴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κ=10⁷  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0.417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0.098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κ=10⁷  Mom/Adam/AdamW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31 – 33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~10⁻⁴ to 10⁻¹⁰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2" name="TextBox 5"/>
          <p:cNvSpPr/>
          <p:nvPr/>
        </p:nvSpPr>
        <p:spPr>
          <a:xfrm>
            <a:off x="6675120" y="4572000"/>
            <a:ext cx="5028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Adam/Momentum at κ=10⁷: Bias² ≈ 33 → catastrophically biased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BN-on-Linear: Bias² ≈ 0.98 always → deterministically wrong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Vanilla SGD: High variance (0.098) but trending toward θ*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Result 4 — Computational Resource Usage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3" descr="4_resource_usage.png"/>
          <p:cNvPicPr/>
          <p:nvPr/>
        </p:nvPicPr>
        <p:blipFill>
          <a:blip r:embed="rId1"/>
          <a:stretch/>
        </p:blipFill>
        <p:spPr>
          <a:xfrm>
            <a:off x="457200" y="914400"/>
            <a:ext cx="5943240" cy="4388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6" name="Table 4"/>
          <p:cNvGraphicFramePr/>
          <p:nvPr/>
        </p:nvGraphicFramePr>
        <p:xfrm>
          <a:off x="6858000" y="1097280"/>
          <a:ext cx="484596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Method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Time (κ=10⁷)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RAM (κ=10⁷)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10.7s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706 MB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10.8s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766 MB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14.9s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825 MB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24.1s (slowest)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885 MB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15.1s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942 MB (most)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17" name="TextBox 5"/>
          <p:cNvSpPr/>
          <p:nvPr/>
        </p:nvSpPr>
        <p:spPr>
          <a:xfrm>
            <a:off x="6858000" y="4114800"/>
            <a:ext cx="48459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BN-on-Linear is slowest (extra BN computation)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AdamW uses the most memory (optimizer states)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Time scales linearly with epochs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(epochs scale with κ, capped at 50,000)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Why These Results Occur — Mechanistic Analysis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457200" y="1097280"/>
            <a:ext cx="548604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Adam / AdamW Parameter Explosion: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θ_{t+1} = θ_t − α · m_t / (√v_t + ε)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Along flat eigenvectors: true gradient ≈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But stochastic noise ≠ 0 → small v_t denominator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Noise amplified into large parameter steps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Parameters explode along uninformative directions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Momentum Drift: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v_t = β · v_{t-1} + g_t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β* ≈ 0.999 at κ=10⁷ (retains 99.9% of history)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Without restoring gradient on flat dirs,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accumulated noise → uncontrolled random walk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6217920" y="1097280"/>
            <a:ext cx="548604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Vanilla SGD's Geometric Safety: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θ_{t+1} = θ_t − η · g_t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Step is proportional to gradient magnitude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Flat direction → tiny gradient → tiny step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Naturally ignores noise-dominated directions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Slower but fundamentally safer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BN-on-Linear's Structural Impossibility: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BN normalizes: X̂ = (X − μ) / 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For linear model: BN(c·θᵀx) = BN(θᵀx)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Output is invariant to scale of 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Gradient w.r.t. radial scale is exactly zero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  → Can find direction but never magnitude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ounded Rectangle 1"/>
          <p:cNvSpPr/>
          <p:nvPr/>
        </p:nvSpPr>
        <p:spPr>
          <a:xfrm>
            <a:off x="365760" y="274320"/>
            <a:ext cx="456840" cy="365400"/>
          </a:xfrm>
          <a:prstGeom prst="roundRect">
            <a:avLst>
              <a:gd name="adj" fmla="val 16667"/>
            </a:avLst>
          </a:prstGeom>
          <a:solidFill>
            <a:srgbClr val="386b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1440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Architectural 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4" name="Table 3"/>
          <p:cNvGraphicFramePr/>
          <p:nvPr/>
        </p:nvGraphicFramePr>
        <p:xfrm>
          <a:off x="457200" y="1097280"/>
          <a:ext cx="1124676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286000"/>
                <a:gridCol w="2743200"/>
                <a:gridCol w="27432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Optimizer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Loss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(κ ≤ 10⁴)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 (κ = 10⁷)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Failure Mode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Adam / AdamW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~10⁻⁷ 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0.28 error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 error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Inverse-variance noise amp.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Momentum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~10⁻⁷ 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0.28 error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5.76 error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Velocity drift on flat subspace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Vanilla SGD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~10⁻⁷ 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0.22 error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0.70 (falling) ✅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Slow convergence (safe)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BN-on-Linear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~10⁻⁵ ⚠️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0.98 error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0.99 error ❌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Scale elimination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Ridge L2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DIVERGED 💥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DIVERGED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DIVERGED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LR too aggressive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4"/>
          <p:cNvSpPr/>
          <p:nvPr/>
        </p:nvSpPr>
        <p:spPr>
          <a:xfrm>
            <a:off x="457200" y="4114800"/>
            <a:ext cx="112467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Key Takeaway: Loss monitoring alone is dangerously misleading.</a:t>
            </a:r>
            <a:br>
              <a:rPr sz="1500"/>
            </a:br>
            <a:br>
              <a:rPr sz="1500"/>
            </a:b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Adam/Momentum are excellent at minimizing loss but catastrophic at parameter recovery under ill-conditioning.</a:t>
            </a:r>
            <a:br>
              <a:rPr sz="1500"/>
            </a:b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Vanilla SGD's simplicity is its strength — gradient-proportional steps provide inherent geometric safety.</a:t>
            </a:r>
            <a:br>
              <a:rPr sz="1500"/>
            </a:b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• Robust system identification requires geometric stabilization (Ridge/L2), not just faster optimizers.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1371600" y="91440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1371600" y="2011680"/>
            <a:ext cx="91436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1.  Modern optimizers can achieve perfect loss while parameters</a:t>
            </a:r>
            <a:br>
              <a:rPr sz="1600"/>
            </a:b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  completely diverge from reality — the "Optimization Mirage".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2.  The failure is localized to flat, noise-dominated eigen-directions</a:t>
            </a:r>
            <a:br>
              <a:rPr sz="1600"/>
            </a:b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  of the Hessian, not to the overall optimization process.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3.  Vanilla SGD's gradient-proportional steps are inherently self-limiting</a:t>
            </a:r>
            <a:br>
              <a:rPr sz="1600"/>
            </a:b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  and geometrically safe, despite being the simplest method.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4.  Geometric stabilization (Ridge regularization with correct LR)</a:t>
            </a:r>
            <a:br>
              <a:rPr sz="1600"/>
            </a:b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  is essential for reliable parameter recovery.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5.  You cannot blindly trust a low error rate.</a:t>
            </a:r>
            <a:br>
              <a:rPr sz="1600"/>
            </a:b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    Structure-aware diagnostics are critical for real-world ML.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371600" y="5486400"/>
            <a:ext cx="9143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386bf6"/>
                </a:solidFill>
                <a:effectLst/>
                <a:uFillTx/>
                <a:latin typeface="Calibri"/>
              </a:rPr>
              <a:t>Thank You!  •  Questions?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1Doc/1.5.0.$MacOSX_AARCH64 LibreOffice_project/f18819df7036044a2e6bdd6066c92aabef81c661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2026-08-05T11:47:13Z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